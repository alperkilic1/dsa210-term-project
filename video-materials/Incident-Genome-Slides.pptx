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 am Alper Kilic, and this is my DSA210 term project: Incident Genome.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outages cost companies thousands of dollars per minute. My research question is simple: can we predict whether an outage will be short or long, using only what we can see in the first hour?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collected data from 14 public cloud status pages, including GitHub, Cloudflare, Discord, and OpenAI. These services use Statuspage.io, which exposes incident history as structured JSON. No API key is needed, so the project is fully reproducible. After cleaning, I had 704 incidents. The target variable is binary: short means under 60 minutes, long means 60 minutes or more. The split is about 39 percent short and 61 percent long.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exploratory analysis, I found that median duration is 82.5 minutes with heavy right skew. Incidents peak on Tuesdays around 3 PM UTC. Resolution speed varies a lot across services -- Netlify resolves about five times faster than Twilio.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finding was a data leakage problem. The original feature, total number of updates, had a positive correlation of 0.46 with duration. But that is because longer incidents naturally get more updates after they end. When I replaced it with first-hour updates only, the correlation flipped to negative 0.224. This sign flip proved the original correlation was an artifact. Catching this leakage was critical for building an honest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ML model, I used a Random Forest classifier with five features: service name, hour, weekday, first-hour update count, and a business-hours flag. I handled class imbalance with balanced class weights and used stratified splits.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Random Forest achieved 74.5 percent accuracy and an F1-macro score of 0.7317. The majority-class baseline only gets 61.7 percent accuracy and 0.3816 F1-macro. A binomial test confirms this improvement is statistically significant, with a p-value of 6.67 times 10 to the negative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analysis shows that first-hour updates dominates all other features by a factor of five to six. Early communication intensity is the strongest predictor of outage duration.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yes, early signals do predict outage duration above chance. But the effect size is small -- Cohen's h is 0.284 -- so this is not production-ready yet. Future work includes NLP on update text and expanding to more services.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48840"/>
            <a:ext cx="10881360" cy="457200"/>
          </a:xfrm>
          <a:prstGeom prst="rect">
            <a:avLst/>
          </a:prstGeom>
          <a:noFill/>
        </p:spPr>
        <p:txBody>
          <a:bodyPr wrap="square" anchor="t">
            <a:spAutoFit/>
          </a:bodyPr>
          <a:lstStyle/>
          <a:p>
            <a:pPr algn="l">
              <a:lnSpc>
                <a:spcPct val="100000"/>
              </a:lnSpc>
            </a:pPr>
            <a:r>
              <a:rPr sz="1600" b="1">
                <a:solidFill>
                  <a:srgbClr val="C45C3E"/>
                </a:solidFill>
                <a:latin typeface="Arial"/>
              </a:rPr>
              <a:t>DSA210 TERM PROJECT  ·  SPRING 2026</a:t>
            </a:r>
          </a:p>
        </p:txBody>
      </p:sp>
      <p:sp>
        <p:nvSpPr>
          <p:cNvPr id="4" name="TextBox 3"/>
          <p:cNvSpPr txBox="1"/>
          <p:nvPr/>
        </p:nvSpPr>
        <p:spPr>
          <a:xfrm>
            <a:off x="640080" y="2606040"/>
            <a:ext cx="10881360" cy="1188720"/>
          </a:xfrm>
          <a:prstGeom prst="rect">
            <a:avLst/>
          </a:prstGeom>
          <a:noFill/>
        </p:spPr>
        <p:txBody>
          <a:bodyPr wrap="square" anchor="t">
            <a:spAutoFit/>
          </a:bodyPr>
          <a:lstStyle/>
          <a:p>
            <a:pPr algn="l">
              <a:lnSpc>
                <a:spcPct val="100000"/>
              </a:lnSpc>
            </a:pPr>
            <a:r>
              <a:rPr sz="6000" b="1">
                <a:solidFill>
                  <a:srgbClr val="1F1E1B"/>
                </a:solidFill>
                <a:latin typeface="Arial"/>
              </a:rPr>
              <a:t>Incident Genome</a:t>
            </a:r>
          </a:p>
        </p:txBody>
      </p:sp>
      <p:sp>
        <p:nvSpPr>
          <p:cNvPr id="5" name="TextBox 4"/>
          <p:cNvSpPr txBox="1"/>
          <p:nvPr/>
        </p:nvSpPr>
        <p:spPr>
          <a:xfrm>
            <a:off x="640080" y="3703320"/>
            <a:ext cx="10058400" cy="914400"/>
          </a:xfrm>
          <a:prstGeom prst="rect">
            <a:avLst/>
          </a:prstGeom>
          <a:noFill/>
        </p:spPr>
        <p:txBody>
          <a:bodyPr wrap="square" anchor="t">
            <a:spAutoFit/>
          </a:bodyPr>
          <a:lstStyle/>
          <a:p>
            <a:pPr algn="l">
              <a:lnSpc>
                <a:spcPct val="125000"/>
              </a:lnSpc>
            </a:pPr>
            <a:r>
              <a:rPr sz="2400" b="0">
                <a:solidFill>
                  <a:srgbClr val="5C5A54"/>
                </a:solidFill>
                <a:latin typeface="Arial"/>
              </a:rPr>
              <a:t>Predicting cloud outage duration from the signals visible in the first hour.</a:t>
            </a:r>
          </a:p>
        </p:txBody>
      </p:sp>
      <p:sp>
        <p:nvSpPr>
          <p:cNvPr id="6" name="TextBox 5"/>
          <p:cNvSpPr txBox="1"/>
          <p:nvPr/>
        </p:nvSpPr>
        <p:spPr>
          <a:xfrm>
            <a:off x="640080" y="5074920"/>
            <a:ext cx="10881360" cy="914400"/>
          </a:xfrm>
          <a:prstGeom prst="rect">
            <a:avLst/>
          </a:prstGeom>
          <a:noFill/>
        </p:spPr>
        <p:txBody>
          <a:bodyPr wrap="square" anchor="t">
            <a:spAutoFit/>
          </a:bodyPr>
          <a:lstStyle/>
          <a:p>
            <a:pPr algn="l">
              <a:lnSpc>
                <a:spcPct val="100000"/>
              </a:lnSpc>
            </a:pPr>
            <a:r>
              <a:rPr sz="1800" b="1">
                <a:solidFill>
                  <a:srgbClr val="1F1E1B"/>
                </a:solidFill>
                <a:latin typeface="Arial"/>
              </a:rPr>
              <a:t>Alper Kılıç</a:t>
            </a:r>
            <a:r>
              <a:rPr sz="1800" b="0">
                <a:solidFill>
                  <a:srgbClr val="5C5A54"/>
                </a:solidFill>
                <a:latin typeface="Arial"/>
              </a:rPr>
              <a:t>   ·   Sabancı University   ·   Introduction to Data Science</a:t>
            </a:r>
          </a:p>
        </p:txBody>
      </p:sp>
      <p:sp>
        <p:nvSpPr>
          <p:cNvPr id="7" name="TextBox 6"/>
          <p:cNvSpPr txBox="1"/>
          <p:nvPr/>
        </p:nvSpPr>
        <p:spPr>
          <a:xfrm>
            <a:off x="640080" y="5440680"/>
            <a:ext cx="10881360" cy="457200"/>
          </a:xfrm>
          <a:prstGeom prst="rect">
            <a:avLst/>
          </a:prstGeom>
          <a:noFill/>
        </p:spPr>
        <p:txBody>
          <a:bodyPr wrap="square" anchor="t">
            <a:spAutoFit/>
          </a:bodyPr>
          <a:lstStyle/>
          <a:p>
            <a:pPr algn="l">
              <a:lnSpc>
                <a:spcPct val="100000"/>
              </a:lnSpc>
            </a:pPr>
            <a:r>
              <a:rPr sz="1500" b="0">
                <a:solidFill>
                  <a:srgbClr val="8A887F"/>
                </a:solidFill>
                <a:latin typeface="Arial"/>
              </a:rPr>
              <a:t>Instructors: Öznur Taştan, Özgür Asar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01  /  THE PROBLEM</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Can early signals tell us how long an outage lasts?</a:t>
            </a:r>
          </a:p>
        </p:txBody>
      </p:sp>
      <p:sp>
        <p:nvSpPr>
          <p:cNvPr id="5" name="TextBox 4"/>
          <p:cNvSpPr txBox="1"/>
          <p:nvPr/>
        </p:nvSpPr>
        <p:spPr>
          <a:xfrm>
            <a:off x="640080" y="1874519"/>
            <a:ext cx="10881360" cy="4206240"/>
          </a:xfrm>
          <a:prstGeom prst="rect">
            <a:avLst/>
          </a:prstGeom>
          <a:noFill/>
        </p:spPr>
        <p:txBody>
          <a:bodyPr wrap="square" anchor="ctr">
            <a:spAutoFit/>
          </a:bodyPr>
          <a:lstStyle/>
          <a:p>
            <a:pPr>
              <a:lnSpc>
                <a:spcPct val="118000"/>
              </a:lnSpc>
              <a:spcAft>
                <a:spcPts val="1600"/>
              </a:spcAft>
            </a:pPr>
            <a:r>
              <a:rPr sz="2200" b="1">
                <a:solidFill>
                  <a:srgbClr val="C45C3E"/>
                </a:solidFill>
                <a:latin typeface="Arial"/>
              </a:rPr>
              <a:t>—  </a:t>
            </a:r>
            <a:r>
              <a:rPr sz="2200">
                <a:solidFill>
                  <a:srgbClr val="1F1E1B"/>
                </a:solidFill>
                <a:latin typeface="Arial"/>
              </a:rPr>
              <a:t>Cloud outages cost large companies thousands of dollars per minute of downtime.</a:t>
            </a:r>
          </a:p>
          <a:p>
            <a:pPr>
              <a:lnSpc>
                <a:spcPct val="118000"/>
              </a:lnSpc>
              <a:spcAft>
                <a:spcPts val="1600"/>
              </a:spcAft>
            </a:pPr>
            <a:r>
              <a:rPr sz="2200" b="1">
                <a:solidFill>
                  <a:srgbClr val="C45C3E"/>
                </a:solidFill>
                <a:latin typeface="Arial"/>
              </a:rPr>
              <a:t>—  </a:t>
            </a:r>
            <a:r>
              <a:rPr sz="2200">
                <a:solidFill>
                  <a:srgbClr val="1F1E1B"/>
                </a:solidFill>
                <a:latin typeface="Arial"/>
              </a:rPr>
              <a:t>Most outage analysis happens after the fact, in post-mortems — not in the first hour.</a:t>
            </a:r>
          </a:p>
          <a:p>
            <a:pPr>
              <a:lnSpc>
                <a:spcPct val="118000"/>
              </a:lnSpc>
              <a:spcAft>
                <a:spcPts val="1600"/>
              </a:spcAft>
            </a:pPr>
            <a:r>
              <a:rPr sz="2200" b="1">
                <a:solidFill>
                  <a:srgbClr val="C45C3E"/>
                </a:solidFill>
                <a:latin typeface="Arial"/>
              </a:rPr>
              <a:t>—  </a:t>
            </a:r>
            <a:r>
              <a:rPr sz="2200">
                <a:solidFill>
                  <a:srgbClr val="1F1E1B"/>
                </a:solidFill>
                <a:latin typeface="Arial"/>
              </a:rPr>
              <a:t>Research question: using only what we can see in the first hour — service, start-hour, day-of-week, first-hour update count — can we predict whether an outage will be SHORT (&lt; 60 min) or LONG (≥ 60 min)?</a:t>
            </a:r>
          </a:p>
          <a:p>
            <a:pPr>
              <a:lnSpc>
                <a:spcPct val="118000"/>
              </a:lnSpc>
              <a:spcAft>
                <a:spcPts val="1600"/>
              </a:spcAft>
            </a:pPr>
            <a:r>
              <a:rPr sz="2200" b="1">
                <a:solidFill>
                  <a:srgbClr val="C45C3E"/>
                </a:solidFill>
                <a:latin typeface="Arial"/>
              </a:rPr>
              <a:t>—  </a:t>
            </a:r>
            <a:r>
              <a:rPr sz="2200">
                <a:solidFill>
                  <a:srgbClr val="1F1E1B"/>
                </a:solidFill>
                <a:latin typeface="Arial"/>
              </a:rPr>
              <a:t>704 incidents scraped from 14 public cloud status pages: GitHub, Cloudflare, OpenAI, Discord, and more.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02  /  THE DATA</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869 raw incidents, cleaned down to 704</a:t>
            </a:r>
          </a:p>
        </p:txBody>
      </p:sp>
      <p:sp>
        <p:nvSpPr>
          <p:cNvPr id="5" name="TextBox 4"/>
          <p:cNvSpPr txBox="1"/>
          <p:nvPr/>
        </p:nvSpPr>
        <p:spPr>
          <a:xfrm>
            <a:off x="640080" y="1828800"/>
            <a:ext cx="5486400" cy="4297680"/>
          </a:xfrm>
          <a:prstGeom prst="rect">
            <a:avLst/>
          </a:prstGeom>
          <a:noFill/>
        </p:spPr>
        <p:txBody>
          <a:bodyPr wrap="square" anchor="ctr">
            <a:spAutoFit/>
          </a:bodyPr>
          <a:lstStyle/>
          <a:p>
            <a:pPr>
              <a:lnSpc>
                <a:spcPct val="118000"/>
              </a:lnSpc>
              <a:spcAft>
                <a:spcPts val="1600"/>
              </a:spcAft>
            </a:pPr>
            <a:r>
              <a:rPr sz="2000" b="1">
                <a:solidFill>
                  <a:srgbClr val="C45C3E"/>
                </a:solidFill>
                <a:latin typeface="Arial"/>
              </a:rPr>
              <a:t>—  </a:t>
            </a:r>
            <a:r>
              <a:rPr sz="2000">
                <a:solidFill>
                  <a:srgbClr val="1F1E1B"/>
                </a:solidFill>
                <a:latin typeface="Arial"/>
              </a:rPr>
              <a:t>Scraped from Statuspage.io JSON APIs — no API key needed, fully reproducible.</a:t>
            </a:r>
          </a:p>
          <a:p>
            <a:pPr>
              <a:lnSpc>
                <a:spcPct val="118000"/>
              </a:lnSpc>
              <a:spcAft>
                <a:spcPts val="1600"/>
              </a:spcAft>
            </a:pPr>
            <a:r>
              <a:rPr sz="2000" b="1">
                <a:solidFill>
                  <a:srgbClr val="C45C3E"/>
                </a:solidFill>
                <a:latin typeface="Arial"/>
              </a:rPr>
              <a:t>—  </a:t>
            </a:r>
            <a:r>
              <a:rPr sz="2000">
                <a:solidFill>
                  <a:srgbClr val="1F1E1B"/>
                </a:solidFill>
                <a:latin typeface="Arial"/>
              </a:rPr>
              <a:t>869 raw → 704 cleaned incidents, spanning 2019 to 2026.</a:t>
            </a:r>
          </a:p>
          <a:p>
            <a:pPr>
              <a:lnSpc>
                <a:spcPct val="118000"/>
              </a:lnSpc>
              <a:spcAft>
                <a:spcPts val="1600"/>
              </a:spcAft>
            </a:pPr>
            <a:r>
              <a:rPr sz="2000" b="1">
                <a:solidFill>
                  <a:srgbClr val="C45C3E"/>
                </a:solidFill>
                <a:latin typeface="Arial"/>
              </a:rPr>
              <a:t>—  </a:t>
            </a:r>
            <a:r>
              <a:rPr sz="2000">
                <a:solidFill>
                  <a:srgbClr val="1F1E1B"/>
                </a:solidFill>
                <a:latin typeface="Arial"/>
              </a:rPr>
              <a:t>Binary target: short (&lt; 60 min) vs long (≥ 60 min).</a:t>
            </a:r>
          </a:p>
          <a:p>
            <a:pPr>
              <a:lnSpc>
                <a:spcPct val="118000"/>
              </a:lnSpc>
              <a:spcAft>
                <a:spcPts val="1600"/>
              </a:spcAft>
            </a:pPr>
            <a:r>
              <a:rPr sz="2000" b="1">
                <a:solidFill>
                  <a:srgbClr val="C45C3E"/>
                </a:solidFill>
                <a:latin typeface="Arial"/>
              </a:rPr>
              <a:t>—  </a:t>
            </a:r>
            <a:r>
              <a:rPr sz="2000">
                <a:solidFill>
                  <a:srgbClr val="1F1E1B"/>
                </a:solidFill>
                <a:latin typeface="Arial"/>
              </a:rPr>
              <a:t>Class split: 38.6% short / 61.4% long — a mild 1.59:1 imbalance.</a:t>
            </a:r>
          </a:p>
        </p:txBody>
      </p:sp>
      <p:pic>
        <p:nvPicPr>
          <p:cNvPr id="6" name="Picture 5" descr="class_imbalance.png"/>
          <p:cNvPicPr>
            <a:picLocks noChangeAspect="1"/>
          </p:cNvPicPr>
          <p:nvPr/>
        </p:nvPicPr>
        <p:blipFill>
          <a:blip r:embed="rId2"/>
          <a:stretch>
            <a:fillRect/>
          </a:stretch>
        </p:blipFill>
        <p:spPr>
          <a:xfrm>
            <a:off x="6400800" y="2357669"/>
            <a:ext cx="5212080" cy="3239941"/>
          </a:xfrm>
          <a:prstGeom prst="rect">
            <a:avLst/>
          </a:prstGeom>
          <a:ln w="12700">
            <a:solidFill>
              <a:srgbClr val="E4E2DB"/>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03  /  EXPLORATORY ANALYSIS</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What the data shows</a:t>
            </a:r>
          </a:p>
        </p:txBody>
      </p:sp>
      <p:sp>
        <p:nvSpPr>
          <p:cNvPr id="5" name="TextBox 4"/>
          <p:cNvSpPr txBox="1"/>
          <p:nvPr/>
        </p:nvSpPr>
        <p:spPr>
          <a:xfrm>
            <a:off x="640080" y="1828800"/>
            <a:ext cx="5486400" cy="4297680"/>
          </a:xfrm>
          <a:prstGeom prst="rect">
            <a:avLst/>
          </a:prstGeom>
          <a:noFill/>
        </p:spPr>
        <p:txBody>
          <a:bodyPr wrap="square" anchor="ctr">
            <a:spAutoFit/>
          </a:bodyPr>
          <a:lstStyle/>
          <a:p>
            <a:pPr>
              <a:lnSpc>
                <a:spcPct val="118000"/>
              </a:lnSpc>
              <a:spcAft>
                <a:spcPts val="1600"/>
              </a:spcAft>
            </a:pPr>
            <a:r>
              <a:rPr sz="2000" b="1">
                <a:solidFill>
                  <a:srgbClr val="C45C3E"/>
                </a:solidFill>
                <a:latin typeface="Arial"/>
              </a:rPr>
              <a:t>—  </a:t>
            </a:r>
            <a:r>
              <a:rPr sz="2000">
                <a:solidFill>
                  <a:srgbClr val="1F1E1B"/>
                </a:solidFill>
                <a:latin typeface="Arial"/>
              </a:rPr>
              <a:t>Median duration is 82.5 minutes — but with a heavy right skew (skewness ~8).</a:t>
            </a:r>
          </a:p>
          <a:p>
            <a:pPr>
              <a:lnSpc>
                <a:spcPct val="118000"/>
              </a:lnSpc>
              <a:spcAft>
                <a:spcPts val="1600"/>
              </a:spcAft>
            </a:pPr>
            <a:r>
              <a:rPr sz="2000" b="1">
                <a:solidFill>
                  <a:srgbClr val="C45C3E"/>
                </a:solidFill>
                <a:latin typeface="Arial"/>
              </a:rPr>
              <a:t>—  </a:t>
            </a:r>
            <a:r>
              <a:rPr sz="2000">
                <a:solidFill>
                  <a:srgbClr val="1F1E1B"/>
                </a:solidFill>
                <a:latin typeface="Arial"/>
              </a:rPr>
              <a:t>Incidents peak on Tuesdays, around 15:00 UTC.</a:t>
            </a:r>
          </a:p>
          <a:p>
            <a:pPr>
              <a:lnSpc>
                <a:spcPct val="118000"/>
              </a:lnSpc>
              <a:spcAft>
                <a:spcPts val="1600"/>
              </a:spcAft>
            </a:pPr>
            <a:r>
              <a:rPr sz="2000" b="1">
                <a:solidFill>
                  <a:srgbClr val="C45C3E"/>
                </a:solidFill>
                <a:latin typeface="Arial"/>
              </a:rPr>
              <a:t>—  </a:t>
            </a:r>
            <a:r>
              <a:rPr sz="2000">
                <a:solidFill>
                  <a:srgbClr val="1F1E1B"/>
                </a:solidFill>
                <a:latin typeface="Arial"/>
              </a:rPr>
              <a:t>Median resolution time varies more than 5× across services.</a:t>
            </a:r>
          </a:p>
          <a:p>
            <a:pPr>
              <a:lnSpc>
                <a:spcPct val="118000"/>
              </a:lnSpc>
              <a:spcAft>
                <a:spcPts val="1600"/>
              </a:spcAft>
            </a:pPr>
            <a:r>
              <a:rPr sz="2000" b="1">
                <a:solidFill>
                  <a:srgbClr val="C45C3E"/>
                </a:solidFill>
                <a:latin typeface="Arial"/>
              </a:rPr>
              <a:t>—  </a:t>
            </a:r>
            <a:r>
              <a:rPr sz="2000">
                <a:solidFill>
                  <a:srgbClr val="1F1E1B"/>
                </a:solidFill>
                <a:latin typeface="Arial"/>
              </a:rPr>
              <a:t>Netlify resolves fastest; Twilio is the slowest.</a:t>
            </a:r>
          </a:p>
        </p:txBody>
      </p:sp>
      <p:pic>
        <p:nvPicPr>
          <p:cNvPr id="6" name="Picture 5" descr="04_median_duration_by_service.png"/>
          <p:cNvPicPr>
            <a:picLocks noChangeAspect="1"/>
          </p:cNvPicPr>
          <p:nvPr/>
        </p:nvPicPr>
        <p:blipFill>
          <a:blip r:embed="rId2"/>
          <a:stretch>
            <a:fillRect/>
          </a:stretch>
        </p:blipFill>
        <p:spPr>
          <a:xfrm>
            <a:off x="6400800" y="2420007"/>
            <a:ext cx="5212080" cy="3115266"/>
          </a:xfrm>
          <a:prstGeom prst="rect">
            <a:avLst/>
          </a:prstGeom>
          <a:ln w="12700">
            <a:solidFill>
              <a:srgbClr val="E4E2DB"/>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C45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04  /  THE KEY FINDING</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A data leak — caught by a sign flip</a:t>
            </a:r>
          </a:p>
        </p:txBody>
      </p:sp>
      <p:sp>
        <p:nvSpPr>
          <p:cNvPr id="5" name="TextBox 4"/>
          <p:cNvSpPr txBox="1"/>
          <p:nvPr/>
        </p:nvSpPr>
        <p:spPr>
          <a:xfrm>
            <a:off x="640080" y="1828800"/>
            <a:ext cx="5486400" cy="4297680"/>
          </a:xfrm>
          <a:prstGeom prst="rect">
            <a:avLst/>
          </a:prstGeom>
          <a:noFill/>
        </p:spPr>
        <p:txBody>
          <a:bodyPr wrap="square" anchor="ctr">
            <a:spAutoFit/>
          </a:bodyPr>
          <a:lstStyle/>
          <a:p>
            <a:pPr>
              <a:lnSpc>
                <a:spcPct val="118000"/>
              </a:lnSpc>
              <a:spcAft>
                <a:spcPts val="1600"/>
              </a:spcAft>
            </a:pPr>
            <a:r>
              <a:rPr sz="2000" b="1">
                <a:solidFill>
                  <a:srgbClr val="C45C3E"/>
                </a:solidFill>
                <a:latin typeface="Arial"/>
              </a:rPr>
              <a:t>—  </a:t>
            </a:r>
            <a:r>
              <a:rPr sz="2000">
                <a:solidFill>
                  <a:srgbClr val="1F1E1B"/>
                </a:solidFill>
                <a:latin typeface="Arial"/>
              </a:rPr>
              <a:t>num_updates correlated with duration at ρ = +0.46 — it looked like a great feature.</a:t>
            </a:r>
          </a:p>
          <a:p>
            <a:pPr>
              <a:lnSpc>
                <a:spcPct val="118000"/>
              </a:lnSpc>
              <a:spcAft>
                <a:spcPts val="1600"/>
              </a:spcAft>
            </a:pPr>
            <a:r>
              <a:rPr sz="2000" b="1">
                <a:solidFill>
                  <a:srgbClr val="C45C3E"/>
                </a:solidFill>
                <a:latin typeface="Arial"/>
              </a:rPr>
              <a:t>—  </a:t>
            </a:r>
            <a:r>
              <a:rPr sz="2000">
                <a:solidFill>
                  <a:srgbClr val="1F1E1B"/>
                </a:solidFill>
                <a:latin typeface="Arial"/>
              </a:rPr>
              <a:t>But it counts updates posted AFTER resolution — longer incidents accumulate more.</a:t>
            </a:r>
          </a:p>
          <a:p>
            <a:pPr>
              <a:lnSpc>
                <a:spcPct val="118000"/>
              </a:lnSpc>
              <a:spcAft>
                <a:spcPts val="1600"/>
              </a:spcAft>
            </a:pPr>
            <a:r>
              <a:rPr sz="2000" b="1">
                <a:solidFill>
                  <a:srgbClr val="C45C3E"/>
                </a:solidFill>
                <a:latin typeface="Arial"/>
              </a:rPr>
              <a:t>—  </a:t>
            </a:r>
            <a:r>
              <a:rPr sz="2000">
                <a:solidFill>
                  <a:srgbClr val="1F1E1B"/>
                </a:solidFill>
                <a:latin typeface="Arial"/>
              </a:rPr>
              <a:t>Replaced it with first_hour_updates (first 3600s only): ρ flipped to −0.224.</a:t>
            </a:r>
          </a:p>
          <a:p>
            <a:pPr>
              <a:lnSpc>
                <a:spcPct val="118000"/>
              </a:lnSpc>
              <a:spcAft>
                <a:spcPts val="1600"/>
              </a:spcAft>
            </a:pPr>
            <a:r>
              <a:rPr sz="2000" b="1">
                <a:solidFill>
                  <a:srgbClr val="C45C3E"/>
                </a:solidFill>
                <a:latin typeface="Arial"/>
              </a:rPr>
              <a:t>—  </a:t>
            </a:r>
            <a:r>
              <a:rPr sz="2000">
                <a:solidFill>
                  <a:srgbClr val="1F1E1B"/>
                </a:solidFill>
                <a:latin typeface="Arial"/>
              </a:rPr>
              <a:t>The sign flip is the proof: the original correlation was a leakage artifact.</a:t>
            </a:r>
          </a:p>
        </p:txBody>
      </p:sp>
      <p:pic>
        <p:nvPicPr>
          <p:cNvPr id="6" name="Picture 5" descr="leakage_scatter_comparison.png"/>
          <p:cNvPicPr>
            <a:picLocks noChangeAspect="1"/>
          </p:cNvPicPr>
          <p:nvPr/>
        </p:nvPicPr>
        <p:blipFill>
          <a:blip r:embed="rId2"/>
          <a:stretch>
            <a:fillRect/>
          </a:stretch>
        </p:blipFill>
        <p:spPr>
          <a:xfrm>
            <a:off x="6400800" y="3013831"/>
            <a:ext cx="5212080" cy="1927618"/>
          </a:xfrm>
          <a:prstGeom prst="rect">
            <a:avLst/>
          </a:prstGeom>
          <a:ln w="12700">
            <a:solidFill>
              <a:srgbClr val="E4E2DB"/>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05  /  THE MODEL</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Five honest features, two models, one rule</a:t>
            </a:r>
          </a:p>
        </p:txBody>
      </p:sp>
      <p:sp>
        <p:nvSpPr>
          <p:cNvPr id="5" name="TextBox 4"/>
          <p:cNvSpPr txBox="1"/>
          <p:nvPr/>
        </p:nvSpPr>
        <p:spPr>
          <a:xfrm>
            <a:off x="640080" y="1874519"/>
            <a:ext cx="10881360" cy="4206240"/>
          </a:xfrm>
          <a:prstGeom prst="rect">
            <a:avLst/>
          </a:prstGeom>
          <a:noFill/>
        </p:spPr>
        <p:txBody>
          <a:bodyPr wrap="square" anchor="ctr">
            <a:spAutoFit/>
          </a:bodyPr>
          <a:lstStyle/>
          <a:p>
            <a:pPr>
              <a:lnSpc>
                <a:spcPct val="118000"/>
              </a:lnSpc>
              <a:spcAft>
                <a:spcPts val="1600"/>
              </a:spcAft>
            </a:pPr>
            <a:r>
              <a:rPr sz="2200" b="1">
                <a:solidFill>
                  <a:srgbClr val="C45C3E"/>
                </a:solidFill>
                <a:latin typeface="Arial"/>
              </a:rPr>
              <a:t>—  </a:t>
            </a:r>
            <a:r>
              <a:rPr sz="2200">
                <a:solidFill>
                  <a:srgbClr val="1F1E1B"/>
                </a:solidFill>
                <a:latin typeface="Arial"/>
              </a:rPr>
              <a:t>The rule: every feature must be observable within the first hour.</a:t>
            </a:r>
          </a:p>
          <a:p>
            <a:pPr>
              <a:lnSpc>
                <a:spcPct val="118000"/>
              </a:lnSpc>
              <a:spcAft>
                <a:spcPts val="1600"/>
              </a:spcAft>
            </a:pPr>
            <a:r>
              <a:rPr sz="2200" b="1">
                <a:solidFill>
                  <a:srgbClr val="C45C3E"/>
                </a:solidFill>
                <a:latin typeface="Arial"/>
              </a:rPr>
              <a:t>—  </a:t>
            </a:r>
            <a:r>
              <a:rPr sz="2200">
                <a:solidFill>
                  <a:srgbClr val="1F1E1B"/>
                </a:solidFill>
                <a:latin typeface="Arial"/>
              </a:rPr>
              <a:t>Five features: service, created_hour, created_weekday, first_hour_updates, is_business_hours. Three leaky candidates explicitly excluded.</a:t>
            </a:r>
          </a:p>
          <a:p>
            <a:pPr>
              <a:lnSpc>
                <a:spcPct val="118000"/>
              </a:lnSpc>
              <a:spcAft>
                <a:spcPts val="1600"/>
              </a:spcAft>
            </a:pPr>
            <a:r>
              <a:rPr sz="2200" b="1">
                <a:solidFill>
                  <a:srgbClr val="C45C3E"/>
                </a:solidFill>
                <a:latin typeface="Arial"/>
              </a:rPr>
              <a:t>—  </a:t>
            </a:r>
            <a:r>
              <a:rPr sz="2200">
                <a:solidFill>
                  <a:srgbClr val="1F1E1B"/>
                </a:solidFill>
                <a:latin typeface="Arial"/>
              </a:rPr>
              <a:t>Random Forest as the primary model, Logistic Regression as the linear baseline.</a:t>
            </a:r>
          </a:p>
          <a:p>
            <a:pPr>
              <a:lnSpc>
                <a:spcPct val="118000"/>
              </a:lnSpc>
              <a:spcAft>
                <a:spcPts val="1600"/>
              </a:spcAft>
            </a:pPr>
            <a:r>
              <a:rPr sz="2200" b="1">
                <a:solidFill>
                  <a:srgbClr val="C45C3E"/>
                </a:solidFill>
                <a:latin typeface="Arial"/>
              </a:rPr>
              <a:t>—  </a:t>
            </a:r>
            <a:r>
              <a:rPr sz="2200">
                <a:solidFill>
                  <a:srgbClr val="1F1E1B"/>
                </a:solidFill>
                <a:latin typeface="Arial"/>
              </a:rPr>
              <a:t>80/20 stratified split, class_weight='balanced' for the imbalance, 5-fold cross-validation, GridSearchCV tuning.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06  /  RESULTS</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Genuine signal, beyond chance</a:t>
            </a:r>
          </a:p>
        </p:txBody>
      </p:sp>
      <p:sp>
        <p:nvSpPr>
          <p:cNvPr id="5" name="TextBox 4"/>
          <p:cNvSpPr txBox="1"/>
          <p:nvPr/>
        </p:nvSpPr>
        <p:spPr>
          <a:xfrm>
            <a:off x="640080" y="1828800"/>
            <a:ext cx="5486400" cy="4297680"/>
          </a:xfrm>
          <a:prstGeom prst="rect">
            <a:avLst/>
          </a:prstGeom>
          <a:noFill/>
        </p:spPr>
        <p:txBody>
          <a:bodyPr wrap="square" anchor="ctr">
            <a:spAutoFit/>
          </a:bodyPr>
          <a:lstStyle/>
          <a:p>
            <a:pPr>
              <a:lnSpc>
                <a:spcPct val="118000"/>
              </a:lnSpc>
              <a:spcAft>
                <a:spcPts val="1600"/>
              </a:spcAft>
            </a:pPr>
            <a:r>
              <a:rPr sz="2000" b="1">
                <a:solidFill>
                  <a:srgbClr val="C45C3E"/>
                </a:solidFill>
                <a:latin typeface="Arial"/>
              </a:rPr>
              <a:t>—  </a:t>
            </a:r>
            <a:r>
              <a:rPr sz="2000">
                <a:solidFill>
                  <a:srgbClr val="1F1E1B"/>
                </a:solidFill>
                <a:latin typeface="Arial"/>
              </a:rPr>
              <a:t>Random Forest: 74.5% accuracy, F1-macro 0.732.</a:t>
            </a:r>
          </a:p>
          <a:p>
            <a:pPr>
              <a:lnSpc>
                <a:spcPct val="118000"/>
              </a:lnSpc>
              <a:spcAft>
                <a:spcPts val="1600"/>
              </a:spcAft>
            </a:pPr>
            <a:r>
              <a:rPr sz="2000" b="1">
                <a:solidFill>
                  <a:srgbClr val="C45C3E"/>
                </a:solidFill>
                <a:latin typeface="Arial"/>
              </a:rPr>
              <a:t>—  </a:t>
            </a:r>
            <a:r>
              <a:rPr sz="2000">
                <a:solidFill>
                  <a:srgbClr val="1F1E1B"/>
                </a:solidFill>
                <a:latin typeface="Arial"/>
              </a:rPr>
              <a:t>Majority-class baseline: 61.7% accuracy, F1-macro 0.382.</a:t>
            </a:r>
          </a:p>
          <a:p>
            <a:pPr>
              <a:lnSpc>
                <a:spcPct val="118000"/>
              </a:lnSpc>
              <a:spcAft>
                <a:spcPts val="1600"/>
              </a:spcAft>
            </a:pPr>
            <a:r>
              <a:rPr sz="2000" b="1">
                <a:solidFill>
                  <a:srgbClr val="C45C3E"/>
                </a:solidFill>
                <a:latin typeface="Arial"/>
              </a:rPr>
              <a:t>—  </a:t>
            </a:r>
            <a:r>
              <a:rPr sz="2000">
                <a:solidFill>
                  <a:srgbClr val="1F1E1B"/>
                </a:solidFill>
                <a:latin typeface="Arial"/>
              </a:rPr>
              <a:t>Improvement is statistically significant — binomial test, p = 6.67 × 10⁻⁴.</a:t>
            </a:r>
          </a:p>
          <a:p>
            <a:pPr>
              <a:lnSpc>
                <a:spcPct val="118000"/>
              </a:lnSpc>
              <a:spcAft>
                <a:spcPts val="1600"/>
              </a:spcAft>
            </a:pPr>
            <a:r>
              <a:rPr sz="2000" b="1">
                <a:solidFill>
                  <a:srgbClr val="C45C3E"/>
                </a:solidFill>
                <a:latin typeface="Arial"/>
              </a:rPr>
              <a:t>—  </a:t>
            </a:r>
            <a:r>
              <a:rPr sz="2000">
                <a:solidFill>
                  <a:srgbClr val="1F1E1B"/>
                </a:solidFill>
                <a:latin typeface="Arial"/>
              </a:rPr>
              <a:t>Errors are balanced across both classes, not collapsed onto the majority.</a:t>
            </a:r>
          </a:p>
        </p:txBody>
      </p:sp>
      <p:pic>
        <p:nvPicPr>
          <p:cNvPr id="6" name="Picture 5" descr="ml_confusion_matrix.png"/>
          <p:cNvPicPr>
            <a:picLocks noChangeAspect="1"/>
          </p:cNvPicPr>
          <p:nvPr/>
        </p:nvPicPr>
        <p:blipFill>
          <a:blip r:embed="rId2"/>
          <a:stretch>
            <a:fillRect/>
          </a:stretch>
        </p:blipFill>
        <p:spPr>
          <a:xfrm>
            <a:off x="6400800" y="2255912"/>
            <a:ext cx="5212080" cy="3443456"/>
          </a:xfrm>
          <a:prstGeom prst="rect">
            <a:avLst/>
          </a:prstGeom>
          <a:ln w="12700">
            <a:solidFill>
              <a:srgbClr val="E4E2DB"/>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07  /  INTERPRETABILITY</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What the model actually learned</a:t>
            </a:r>
          </a:p>
        </p:txBody>
      </p:sp>
      <p:sp>
        <p:nvSpPr>
          <p:cNvPr id="5" name="TextBox 4"/>
          <p:cNvSpPr txBox="1"/>
          <p:nvPr/>
        </p:nvSpPr>
        <p:spPr>
          <a:xfrm>
            <a:off x="640080" y="1828800"/>
            <a:ext cx="5486400" cy="4297680"/>
          </a:xfrm>
          <a:prstGeom prst="rect">
            <a:avLst/>
          </a:prstGeom>
          <a:noFill/>
        </p:spPr>
        <p:txBody>
          <a:bodyPr wrap="square" anchor="ctr">
            <a:spAutoFit/>
          </a:bodyPr>
          <a:lstStyle/>
          <a:p>
            <a:pPr>
              <a:lnSpc>
                <a:spcPct val="118000"/>
              </a:lnSpc>
              <a:spcAft>
                <a:spcPts val="1600"/>
              </a:spcAft>
            </a:pPr>
            <a:r>
              <a:rPr sz="2000" b="1">
                <a:solidFill>
                  <a:srgbClr val="C45C3E"/>
                </a:solidFill>
                <a:latin typeface="Arial"/>
              </a:rPr>
              <a:t>—  </a:t>
            </a:r>
            <a:r>
              <a:rPr sz="2000">
                <a:solidFill>
                  <a:srgbClr val="1F1E1B"/>
                </a:solidFill>
                <a:latin typeface="Arial"/>
              </a:rPr>
              <a:t>SHAP analysis: first_hour_updates dominates every other feature by 5–6×.</a:t>
            </a:r>
          </a:p>
          <a:p>
            <a:pPr>
              <a:lnSpc>
                <a:spcPct val="118000"/>
              </a:lnSpc>
              <a:spcAft>
                <a:spcPts val="1600"/>
              </a:spcAft>
            </a:pPr>
            <a:r>
              <a:rPr sz="2000" b="1">
                <a:solidFill>
                  <a:srgbClr val="C45C3E"/>
                </a:solidFill>
                <a:latin typeface="Arial"/>
              </a:rPr>
              <a:t>—  </a:t>
            </a:r>
            <a:r>
              <a:rPr sz="2000">
                <a:solidFill>
                  <a:srgbClr val="1F1E1B"/>
                </a:solidFill>
                <a:latin typeface="Arial"/>
              </a:rPr>
              <a:t>Service identity is the second strongest signal; time-of-day is third.</a:t>
            </a:r>
          </a:p>
          <a:p>
            <a:pPr>
              <a:lnSpc>
                <a:spcPct val="118000"/>
              </a:lnSpc>
              <a:spcAft>
                <a:spcPts val="1600"/>
              </a:spcAft>
            </a:pPr>
            <a:r>
              <a:rPr sz="2000" b="1">
                <a:solidFill>
                  <a:srgbClr val="C45C3E"/>
                </a:solidFill>
                <a:latin typeface="Arial"/>
              </a:rPr>
              <a:t>—  </a:t>
            </a:r>
            <a:r>
              <a:rPr sz="2000">
                <a:solidFill>
                  <a:srgbClr val="1F1E1B"/>
                </a:solidFill>
                <a:latin typeface="Arial"/>
              </a:rPr>
              <a:t>Early communication intensity is the single best predictor of outage duration.</a:t>
            </a:r>
          </a:p>
          <a:p>
            <a:pPr>
              <a:lnSpc>
                <a:spcPct val="118000"/>
              </a:lnSpc>
              <a:spcAft>
                <a:spcPts val="1600"/>
              </a:spcAft>
            </a:pPr>
            <a:r>
              <a:rPr sz="2000" b="1">
                <a:solidFill>
                  <a:srgbClr val="C45C3E"/>
                </a:solidFill>
                <a:latin typeface="Arial"/>
              </a:rPr>
              <a:t>—  </a:t>
            </a:r>
            <a:r>
              <a:rPr sz="2000">
                <a:solidFill>
                  <a:srgbClr val="1F1E1B"/>
                </a:solidFill>
                <a:latin typeface="Arial"/>
              </a:rPr>
              <a:t>The feature rescued from the data leak turned out to be the most important one.</a:t>
            </a:r>
          </a:p>
        </p:txBody>
      </p:sp>
      <p:pic>
        <p:nvPicPr>
          <p:cNvPr id="6" name="Picture 5" descr="ml_shap_summary.png"/>
          <p:cNvPicPr>
            <a:picLocks noChangeAspect="1"/>
          </p:cNvPicPr>
          <p:nvPr/>
        </p:nvPicPr>
        <p:blipFill>
          <a:blip r:embed="rId2"/>
          <a:stretch>
            <a:fillRect/>
          </a:stretch>
        </p:blipFill>
        <p:spPr>
          <a:xfrm>
            <a:off x="6691132" y="1783080"/>
            <a:ext cx="4631415" cy="4389120"/>
          </a:xfrm>
          <a:prstGeom prst="rect">
            <a:avLst/>
          </a:prstGeom>
          <a:ln w="12700">
            <a:solidFill>
              <a:srgbClr val="E4E2DB"/>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77724"/>
          </a:xfrm>
          <a:prstGeom prst="rect">
            <a:avLst/>
          </a:prstGeom>
          <a:solidFill>
            <a:srgbClr val="3B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8229600" cy="365760"/>
          </a:xfrm>
          <a:prstGeom prst="rect">
            <a:avLst/>
          </a:prstGeom>
          <a:noFill/>
        </p:spPr>
        <p:txBody>
          <a:bodyPr wrap="square" anchor="t">
            <a:spAutoFit/>
          </a:bodyPr>
          <a:lstStyle/>
          <a:p>
            <a:pPr algn="l">
              <a:lnSpc>
                <a:spcPct val="100000"/>
              </a:lnSpc>
            </a:pPr>
            <a:r>
              <a:rPr sz="1400" b="1">
                <a:solidFill>
                  <a:srgbClr val="C45C3E"/>
                </a:solidFill>
                <a:latin typeface="Arial"/>
              </a:rPr>
              <a:t>08  /  CONCLUSION</a:t>
            </a:r>
          </a:p>
        </p:txBody>
      </p:sp>
      <p:sp>
        <p:nvSpPr>
          <p:cNvPr id="4" name="TextBox 3"/>
          <p:cNvSpPr txBox="1"/>
          <p:nvPr/>
        </p:nvSpPr>
        <p:spPr>
          <a:xfrm>
            <a:off x="640080" y="713232"/>
            <a:ext cx="10881360" cy="914400"/>
          </a:xfrm>
          <a:prstGeom prst="rect">
            <a:avLst/>
          </a:prstGeom>
          <a:noFill/>
        </p:spPr>
        <p:txBody>
          <a:bodyPr wrap="square" anchor="t">
            <a:spAutoFit/>
          </a:bodyPr>
          <a:lstStyle/>
          <a:p>
            <a:pPr algn="l">
              <a:lnSpc>
                <a:spcPct val="105000"/>
              </a:lnSpc>
            </a:pPr>
            <a:r>
              <a:rPr sz="3400" b="1">
                <a:solidFill>
                  <a:srgbClr val="1F1E1B"/>
                </a:solidFill>
                <a:latin typeface="Arial"/>
              </a:rPr>
              <a:t>Answered — with an honest caveat</a:t>
            </a:r>
          </a:p>
        </p:txBody>
      </p:sp>
      <p:sp>
        <p:nvSpPr>
          <p:cNvPr id="5" name="TextBox 4"/>
          <p:cNvSpPr txBox="1"/>
          <p:nvPr/>
        </p:nvSpPr>
        <p:spPr>
          <a:xfrm>
            <a:off x="640080" y="1874519"/>
            <a:ext cx="10881360" cy="4206240"/>
          </a:xfrm>
          <a:prstGeom prst="rect">
            <a:avLst/>
          </a:prstGeom>
          <a:noFill/>
        </p:spPr>
        <p:txBody>
          <a:bodyPr wrap="square" anchor="ctr">
            <a:spAutoFit/>
          </a:bodyPr>
          <a:lstStyle/>
          <a:p>
            <a:pPr>
              <a:lnSpc>
                <a:spcPct val="118000"/>
              </a:lnSpc>
              <a:spcAft>
                <a:spcPts val="1600"/>
              </a:spcAft>
            </a:pPr>
            <a:r>
              <a:rPr sz="2200" b="1">
                <a:solidFill>
                  <a:srgbClr val="C45C3E"/>
                </a:solidFill>
                <a:latin typeface="Arial"/>
              </a:rPr>
              <a:t>—  </a:t>
            </a:r>
            <a:r>
              <a:rPr sz="2200">
                <a:solidFill>
                  <a:srgbClr val="1F1E1B"/>
                </a:solidFill>
                <a:latin typeface="Arial"/>
              </a:rPr>
              <a:t>Yes — early signals do predict outage duration above chance.</a:t>
            </a:r>
          </a:p>
          <a:p>
            <a:pPr>
              <a:lnSpc>
                <a:spcPct val="118000"/>
              </a:lnSpc>
              <a:spcAft>
                <a:spcPts val="1600"/>
              </a:spcAft>
            </a:pPr>
            <a:r>
              <a:rPr sz="2200" b="1">
                <a:solidFill>
                  <a:srgbClr val="C45C3E"/>
                </a:solidFill>
                <a:latin typeface="Arial"/>
              </a:rPr>
              <a:t>—  </a:t>
            </a:r>
            <a:r>
              <a:rPr sz="2200">
                <a:solidFill>
                  <a:srgbClr val="1F1E1B"/>
                </a:solidFill>
                <a:latin typeface="Arial"/>
              </a:rPr>
              <a:t>But the effect size is small (Cohen's h = 0.284) — this is a research result, not a production-ready triage system.</a:t>
            </a:r>
          </a:p>
          <a:p>
            <a:pPr>
              <a:lnSpc>
                <a:spcPct val="118000"/>
              </a:lnSpc>
              <a:spcAft>
                <a:spcPts val="1600"/>
              </a:spcAft>
            </a:pPr>
            <a:r>
              <a:rPr sz="2200" b="1">
                <a:solidFill>
                  <a:srgbClr val="C45C3E"/>
                </a:solidFill>
                <a:latin typeface="Arial"/>
              </a:rPr>
              <a:t>—  </a:t>
            </a:r>
            <a:r>
              <a:rPr sz="2200">
                <a:solidFill>
                  <a:srgbClr val="1F1E1B"/>
                </a:solidFill>
                <a:latin typeface="Arial"/>
              </a:rPr>
              <a:t>Limitations: small dataset, self-reported data, no text features, observational only.</a:t>
            </a:r>
          </a:p>
          <a:p>
            <a:pPr>
              <a:lnSpc>
                <a:spcPct val="118000"/>
              </a:lnSpc>
              <a:spcAft>
                <a:spcPts val="1600"/>
              </a:spcAft>
            </a:pPr>
            <a:r>
              <a:rPr sz="2200" b="1">
                <a:solidFill>
                  <a:srgbClr val="C45C3E"/>
                </a:solidFill>
                <a:latin typeface="Arial"/>
              </a:rPr>
              <a:t>—  </a:t>
            </a:r>
            <a:r>
              <a:rPr sz="2200">
                <a:solidFill>
                  <a:srgbClr val="1F1E1B"/>
                </a:solidFill>
                <a:latin typeface="Arial"/>
              </a:rPr>
              <a:t>Future work: NLP on update text, temporal-aware validation, expand to 30+ services.</a:t>
            </a:r>
          </a:p>
        </p:txBody>
      </p:sp>
      <p:sp>
        <p:nvSpPr>
          <p:cNvPr id="6" name="TextBox 5"/>
          <p:cNvSpPr txBox="1"/>
          <p:nvPr/>
        </p:nvSpPr>
        <p:spPr>
          <a:xfrm>
            <a:off x="640080" y="5989320"/>
            <a:ext cx="10881360" cy="457200"/>
          </a:xfrm>
          <a:prstGeom prst="rect">
            <a:avLst/>
          </a:prstGeom>
          <a:noFill/>
        </p:spPr>
        <p:txBody>
          <a:bodyPr wrap="square" anchor="t">
            <a:spAutoFit/>
          </a:bodyPr>
          <a:lstStyle/>
          <a:p>
            <a:pPr algn="l">
              <a:lnSpc>
                <a:spcPct val="100000"/>
              </a:lnSpc>
            </a:pPr>
            <a:r>
              <a:rPr sz="2000" b="1">
                <a:solidFill>
                  <a:srgbClr val="C45C3E"/>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